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47459" y="1361900"/>
            <a:ext cx="7752535" cy="1732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26228" y="1924362"/>
            <a:ext cx="4407534" cy="1988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610" y="1361900"/>
            <a:ext cx="6196330" cy="1732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254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LUMINA</a:t>
            </a:r>
            <a:r>
              <a:rPr dirty="0" sz="2800" spc="-80"/>
              <a:t>AI</a:t>
            </a:r>
            <a:r>
              <a:rPr dirty="0" sz="2800"/>
              <a:t>TUTORING</a:t>
            </a:r>
            <a:r>
              <a:rPr dirty="0" sz="2800" spc="-70"/>
              <a:t>AND</a:t>
            </a:r>
            <a:r>
              <a:rPr dirty="0" sz="2800"/>
              <a:t>GENERATIVE</a:t>
            </a:r>
            <a:r>
              <a:rPr dirty="0" sz="2800" spc="-75"/>
              <a:t>VISUAL</a:t>
            </a:r>
            <a:r>
              <a:rPr dirty="0" sz="2800" spc="-10"/>
              <a:t>INTELLIGENCE</a:t>
            </a:r>
            <a:r>
              <a:rPr dirty="0" sz="2800"/>
              <a:t>PLATFORM</a:t>
            </a:r>
            <a:r>
              <a:rPr dirty="0" sz="2800" spc="-80"/>
              <a:t>Senior</a:t>
            </a:r>
            <a:r>
              <a:rPr dirty="0" sz="2800"/>
              <a:t>Defence</a:t>
            </a:r>
            <a:r>
              <a:rPr dirty="0" sz="2800" spc="-45"/>
              <a:t>Project</a:t>
            </a:r>
            <a:r>
              <a:rPr dirty="0" sz="2800" spc="-50"/>
              <a:t>Implementation</a:t>
            </a:r>
            <a:r>
              <a:rPr dirty="0" sz="2800" spc="-70"/>
              <a:t>Aligned</a:t>
            </a:r>
            <a:r>
              <a:rPr dirty="0" sz="2800"/>
              <a:t>Report</a:t>
            </a:r>
            <a:r>
              <a:rPr dirty="0" sz="2800" spc="-20"/>
              <a:t>Jesse</a:t>
            </a:r>
            <a:r>
              <a:rPr dirty="0" sz="2800" spc="-10"/>
              <a:t>Tyohom</a:t>
            </a:r>
            <a:r>
              <a:rPr dirty="0" sz="2800"/>
              <a:t>A00018908</a:t>
            </a:r>
            <a:r>
              <a:rPr dirty="0" sz="2800" spc="-75"/>
              <a:t>School</a:t>
            </a:r>
            <a:r>
              <a:rPr dirty="0" sz="2800"/>
              <a:t>of</a:t>
            </a:r>
            <a:r>
              <a:rPr dirty="0" sz="2800" spc="-114"/>
              <a:t>Information</a:t>
            </a:r>
            <a:r>
              <a:rPr dirty="0" sz="2800"/>
              <a:t>Technology</a:t>
            </a:r>
            <a:r>
              <a:rPr dirty="0" sz="2800" spc="-80"/>
              <a:t>and</a:t>
            </a:r>
            <a:r>
              <a:rPr dirty="0" sz="2800"/>
              <a:t>Computing</a:t>
            </a:r>
            <a:r>
              <a:rPr dirty="0" sz="2800" spc="-65"/>
              <a:t>American</a:t>
            </a:r>
            <a:r>
              <a:rPr dirty="0" sz="2800"/>
              <a:t>University</a:t>
            </a:r>
            <a:r>
              <a:rPr dirty="0" sz="2800" spc="-105"/>
              <a:t>of</a:t>
            </a:r>
            <a:r>
              <a:rPr dirty="0" sz="2800" spc="-65"/>
              <a:t>Nigeria</a:t>
            </a:r>
            <a:r>
              <a:rPr dirty="0" sz="2800" spc="-75"/>
              <a:t>February</a:t>
            </a:r>
            <a:r>
              <a:rPr dirty="0" sz="2800" spc="-25"/>
              <a:t>2026</a:t>
            </a:r>
            <a:r>
              <a:rPr dirty="0" sz="2800"/>
              <a:t/>
            </a:r>
            <a:r>
              <a:rPr dirty="0" sz="2800" spc="-70"/>
              <a:t/>
            </a:r>
            <a:r>
              <a:rPr dirty="0" sz="2800"/>
              <a:t/>
            </a:r>
            <a:r>
              <a:rPr dirty="0" sz="2800" spc="-75"/>
              <a:t/>
            </a:r>
            <a:r>
              <a:rPr dirty="0" sz="2800"/>
              <a:t/>
            </a:r>
            <a:r>
              <a:rPr dirty="0" sz="2800" spc="-75"/>
              <a:t/>
            </a:r>
            <a:r>
              <a:rPr dirty="0" sz="2800" spc="-10"/>
              <a:t/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3237994" y="3212146"/>
            <a:ext cx="5046345" cy="225298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 marL="12700" marR="5080">
              <a:lnSpc>
                <a:spcPct val="80000"/>
              </a:lnSpc>
              <a:spcBef>
                <a:spcPts val="585"/>
              </a:spcBef>
            </a:pPr>
            <a:r>
              <a:rPr dirty="0" sz="2000">
                <a:latin typeface="Calibri"/>
                <a:cs typeface="Calibri"/>
              </a:rPr>
              <a:t/>
            </a:r>
            <a:r>
              <a:rPr dirty="0" sz="2000" spc="-8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/>
            </a:r>
            <a:r>
              <a:rPr dirty="0" sz="2000" spc="-7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/>
            </a:r>
            <a:r>
              <a:rPr dirty="0" sz="2000" spc="-6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/>
            </a:r>
            <a:r>
              <a:rPr dirty="0" sz="2000" spc="-35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/>
            </a:r>
            <a:r>
              <a:rPr dirty="0" sz="2000" spc="-5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/>
            </a:r>
            <a:r>
              <a:rPr dirty="0" sz="2000" spc="-55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/>
            </a:r>
            <a:r>
              <a:rPr dirty="0" sz="2000" spc="-80">
                <a:latin typeface="Calibri"/>
                <a:cs typeface="Calibri"/>
              </a:rPr>
              <a:t/>
            </a:r>
            <a:r>
              <a:rPr dirty="0" sz="2000">
                <a:latin typeface="Calibri"/>
                <a:cs typeface="Calibri"/>
              </a:rPr>
              <a:t/>
            </a:r>
            <a:r>
              <a:rPr dirty="0" sz="2000" spc="-60">
                <a:latin typeface="Calibri"/>
                <a:cs typeface="Calibri"/>
              </a:rPr>
              <a:t/>
            </a:r>
            <a:r>
              <a:rPr dirty="0" sz="2000" spc="-10">
                <a:latin typeface="Calibri"/>
                <a:cs typeface="Calibri"/>
              </a:rPr>
              <a:t/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000">
              <a:latin typeface="Calibri"/>
              <a:cs typeface="Calibri"/>
            </a:endParaRPr>
          </a:p>
          <a:p>
            <a:pPr algn="ctr" marL="1905">
              <a:lnSpc>
                <a:spcPct val="100000"/>
              </a:lnSpc>
            </a:pPr>
            <a:r>
              <a:rPr dirty="0" sz="1400" spc="-25">
                <a:latin typeface="Calibri"/>
                <a:cs typeface="Calibri"/>
              </a:rPr>
              <a:t/>
            </a:r>
            <a:endParaRPr sz="1400">
              <a:latin typeface="Calibri"/>
              <a:cs typeface="Calibri"/>
            </a:endParaRPr>
          </a:p>
          <a:p>
            <a:pPr algn="ctr" marL="1501140" marR="1490980" indent="-1270">
              <a:lnSpc>
                <a:spcPct val="100000"/>
              </a:lnSpc>
            </a:pPr>
            <a:r>
              <a:rPr dirty="0" sz="1400" spc="-10">
                <a:latin typeface="Calibri"/>
                <a:cs typeface="Calibri"/>
              </a:rPr>
              <a:t/>
            </a:r>
            <a:r>
              <a:rPr dirty="0" sz="1400" spc="-45">
                <a:latin typeface="Calibri"/>
                <a:cs typeface="Calibri"/>
              </a:rPr>
              <a:t/>
            </a:r>
            <a:r>
              <a:rPr dirty="0" sz="1400" spc="-25">
                <a:latin typeface="Calibri"/>
                <a:cs typeface="Calibri"/>
              </a:rPr>
              <a:t/>
            </a:r>
            <a:r>
              <a:rPr dirty="0" sz="1400" spc="-30">
                <a:latin typeface="Calibri"/>
                <a:cs typeface="Calibri"/>
              </a:rPr>
              <a:t/>
            </a:r>
            <a:r>
              <a:rPr dirty="0" sz="1400" spc="-10">
                <a:latin typeface="Calibri"/>
                <a:cs typeface="Calibri"/>
              </a:rPr>
              <a:t/>
            </a:r>
            <a:r>
              <a:rPr dirty="0" sz="1400">
                <a:latin typeface="Calibri"/>
                <a:cs typeface="Calibri"/>
              </a:rPr>
              <a:t/>
            </a:r>
            <a:r>
              <a:rPr dirty="0" sz="1400" spc="-30">
                <a:latin typeface="Calibri"/>
                <a:cs typeface="Calibri"/>
              </a:rPr>
              <a:t/>
            </a:r>
            <a:r>
              <a:rPr dirty="0" sz="1400">
                <a:latin typeface="Calibri"/>
                <a:cs typeface="Calibri"/>
              </a:rPr>
              <a:t/>
            </a:r>
            <a:r>
              <a:rPr dirty="0" sz="1400" spc="-30">
                <a:latin typeface="Calibri"/>
                <a:cs typeface="Calibri"/>
              </a:rPr>
              <a:t/>
            </a:r>
            <a:r>
              <a:rPr dirty="0" sz="1400" spc="-10">
                <a:latin typeface="Calibri"/>
                <a:cs typeface="Calibri"/>
              </a:rPr>
              <a:t/>
            </a:r>
            <a:endParaRPr sz="14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/>
            </a:r>
            <a:r>
              <a:rPr dirty="0" sz="1400" spc="-50">
                <a:latin typeface="Calibri"/>
                <a:cs typeface="Calibri"/>
              </a:rPr>
              <a:t/>
            </a:r>
            <a:r>
              <a:rPr dirty="0" sz="1400">
                <a:latin typeface="Calibri"/>
                <a:cs typeface="Calibri"/>
              </a:rPr>
              <a:t/>
            </a:r>
            <a:r>
              <a:rPr dirty="0" sz="1400" spc="-20">
                <a:latin typeface="Calibri"/>
                <a:cs typeface="Calibri"/>
              </a:rPr>
              <a:t/>
            </a:r>
            <a:r>
              <a:rPr dirty="0" sz="1400" spc="-10">
                <a:latin typeface="Calibri"/>
                <a:cs typeface="Calibri"/>
              </a:rPr>
              <a:t/>
            </a:r>
            <a:r>
              <a:rPr dirty="0" sz="1400" spc="-25">
                <a:latin typeface="Calibri"/>
                <a:cs typeface="Calibri"/>
              </a:rPr>
              <a:t/>
            </a:r>
            <a:r>
              <a:rPr dirty="0" sz="1400" spc="-10">
                <a:latin typeface="Calibri"/>
                <a:cs typeface="Calibri"/>
              </a:rPr>
              <a:t/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670"/>
              </a:spcBef>
            </a:pPr>
            <a:r>
              <a:rPr dirty="0" sz="1600">
                <a:latin typeface="Calibri"/>
                <a:cs typeface="Calibri"/>
              </a:rPr>
              <a:t/>
            </a:r>
            <a:r>
              <a:rPr dirty="0" sz="1600" spc="-10">
                <a:latin typeface="Calibri"/>
                <a:cs typeface="Calibri"/>
              </a:rPr>
              <a:t/>
            </a:r>
            <a:r>
              <a:rPr dirty="0" sz="1600">
                <a:latin typeface="Calibri"/>
                <a:cs typeface="Calibri"/>
              </a:rPr>
              <a:t/>
            </a:r>
            <a:r>
              <a:rPr dirty="0" sz="1600" spc="-30">
                <a:latin typeface="Calibri"/>
                <a:cs typeface="Calibri"/>
              </a:rPr>
              <a:t/>
            </a:r>
            <a:r>
              <a:rPr dirty="0" sz="1600">
                <a:latin typeface="Calibri"/>
                <a:cs typeface="Calibri"/>
              </a:rPr>
              <a:t/>
            </a:r>
            <a:r>
              <a:rPr dirty="0" sz="1600" spc="-25">
                <a:latin typeface="Calibri"/>
                <a:cs typeface="Calibri"/>
              </a:rPr>
              <a:t/>
            </a:r>
            <a:r>
              <a:rPr dirty="0" sz="1600">
                <a:latin typeface="Calibri"/>
                <a:cs typeface="Calibri"/>
              </a:rPr>
              <a:t/>
            </a:r>
            <a:r>
              <a:rPr dirty="0" sz="1600" spc="-25">
                <a:latin typeface="Calibri"/>
                <a:cs typeface="Calibri"/>
              </a:rPr>
              <a:t/>
            </a:r>
            <a:r>
              <a:rPr dirty="0" sz="1600" spc="-20">
                <a:latin typeface="Calibri"/>
                <a:cs typeface="Calibri"/>
              </a:rPr>
              <a:t/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5256" rIns="0" bIns="0" rtlCol="0" vert="horz">
            <a:spAutoFit/>
          </a:bodyPr>
          <a:lstStyle/>
          <a:p>
            <a:pPr marL="30664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48117" y="3221285"/>
            <a:ext cx="4942205" cy="198818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469900" marR="5080" indent="-457834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STEM</a:t>
            </a:r>
            <a:r>
              <a:rPr dirty="0" sz="2800" spc="-90">
                <a:latin typeface="Calibri"/>
                <a:cs typeface="Calibri"/>
              </a:rPr>
              <a:t>learning</a:t>
            </a:r>
            <a:r>
              <a:rPr dirty="0" sz="2800">
                <a:latin typeface="Calibri"/>
                <a:cs typeface="Calibri"/>
              </a:rPr>
              <a:t>needs</a:t>
            </a:r>
            <a:r>
              <a:rPr dirty="0" sz="2800" spc="-105">
                <a:latin typeface="Calibri"/>
                <a:cs typeface="Calibri"/>
              </a:rPr>
              <a:t>symbolic</a:t>
            </a:r>
            <a:r>
              <a:rPr dirty="0" sz="2800">
                <a:latin typeface="Calibri"/>
                <a:cs typeface="Calibri"/>
              </a:rPr>
              <a:t>accuracy</a:t>
            </a:r>
            <a:r>
              <a:rPr dirty="0" sz="2800" spc="-100">
                <a:latin typeface="Calibri"/>
                <a:cs typeface="Calibri"/>
              </a:rPr>
              <a:t>plus</a:t>
            </a:r>
            <a:r>
              <a:rPr dirty="0" sz="2800">
                <a:latin typeface="Calibri"/>
                <a:cs typeface="Calibri"/>
              </a:rPr>
              <a:t>visual</a:t>
            </a:r>
            <a:r>
              <a:rPr dirty="0" sz="2800" spc="-85">
                <a:latin typeface="Calibri"/>
                <a:cs typeface="Calibri"/>
              </a:rPr>
              <a:t>intuition</a:t>
            </a:r>
            <a:r>
              <a:rPr dirty="0" sz="2800" spc="-25">
                <a:latin typeface="Calibri"/>
                <a:cs typeface="Calibri"/>
              </a:rPr>
              <a:t>Existing</a:t>
            </a:r>
            <a:r>
              <a:rPr dirty="0" sz="2800">
                <a:latin typeface="Calibri"/>
                <a:cs typeface="Calibri"/>
              </a:rPr>
              <a:t>tools</a:t>
            </a:r>
            <a:r>
              <a:rPr dirty="0" sz="2800" spc="-15">
                <a:latin typeface="Calibri"/>
                <a:cs typeface="Calibri"/>
              </a:rPr>
              <a:t>are</a:t>
            </a:r>
            <a:r>
              <a:rPr dirty="0" sz="2800">
                <a:latin typeface="Calibri"/>
                <a:cs typeface="Calibri"/>
              </a:rPr>
              <a:t>often</a:t>
            </a:r>
            <a:r>
              <a:rPr dirty="0" sz="2800" spc="-35">
                <a:latin typeface="Calibri"/>
                <a:cs typeface="Calibri"/>
              </a:rPr>
              <a:t>passive</a:t>
            </a:r>
            <a:r>
              <a:rPr dirty="0" sz="2800">
                <a:latin typeface="Calibri"/>
                <a:cs typeface="Calibri"/>
              </a:rPr>
              <a:t>Lumina</a:t>
            </a:r>
            <a:r>
              <a:rPr dirty="0" sz="2800" spc="-30">
                <a:latin typeface="Calibri"/>
                <a:cs typeface="Calibri"/>
              </a:rPr>
              <a:t>combines</a:t>
            </a:r>
            <a:r>
              <a:rPr dirty="0" sz="2800" spc="-10">
                <a:latin typeface="Calibri"/>
                <a:cs typeface="Calibri"/>
              </a:rPr>
              <a:t>tutoring</a:t>
            </a:r>
            <a:endParaRPr sz="2800">
              <a:latin typeface="Calibri"/>
              <a:cs typeface="Calibri"/>
            </a:endParaRPr>
          </a:p>
          <a:p>
            <a:pPr marL="469900" marR="241935" indent="-457834">
              <a:lnSpc>
                <a:spcPts val="2690"/>
              </a:lnSpc>
              <a:spcBef>
                <a:spcPts val="66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 spc="-30">
                <a:latin typeface="Calibri"/>
                <a:cs typeface="Calibri"/>
              </a:rPr>
              <a:t>dialogue</a:t>
            </a:r>
            <a:r>
              <a:rPr dirty="0" sz="2800">
                <a:latin typeface="Calibri"/>
                <a:cs typeface="Calibri"/>
              </a:rPr>
              <a:t>generated</a:t>
            </a:r>
            <a:r>
              <a:rPr dirty="0" sz="2800" spc="-25">
                <a:latin typeface="Calibri"/>
                <a:cs typeface="Calibri"/>
              </a:rPr>
              <a:t>visuals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interactive</a:t>
            </a:r>
            <a:r>
              <a:rPr dirty="0" sz="2800" spc="-10">
                <a:latin typeface="Calibri"/>
                <a:cs typeface="Calibri"/>
              </a:rPr>
              <a:t>revision</a:t>
            </a:r>
            <a:r>
              <a:rPr dirty="0" sz="2800" spc="-75">
                <a:latin typeface="Calibri"/>
                <a:cs typeface="Calibri"/>
              </a:rPr>
              <a:t>in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80">
                <a:latin typeface="Calibri"/>
                <a:cs typeface="Calibri"/>
              </a:rPr>
              <a:t>runtime</a:t>
            </a:r>
            <a:r>
              <a:rPr dirty="0" sz="2800">
                <a:latin typeface="Calibri"/>
                <a:cs typeface="Calibri"/>
              </a:rPr>
              <a:t>workspace</a:t>
            </a:r>
            <a:r>
              <a:rPr dirty="0" sz="2800" spc="-35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130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95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1851" rIns="0" bIns="0" rtlCol="0" vert="horz">
            <a:spAutoFit/>
          </a:bodyPr>
          <a:lstStyle/>
          <a:p>
            <a:pPr marL="242189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150"/>
              <a:t>Statement</a:t>
            </a:r>
            <a:r>
              <a:rPr dirty="0" spc="-10"/>
              <a:t>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52061" y="3343176"/>
            <a:ext cx="4962525" cy="198818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469900" marR="5080" indent="-457834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 spc="-10">
                <a:latin typeface="Calibri"/>
                <a:cs typeface="Calibri"/>
              </a:rPr>
              <a:t>concepts</a:t>
            </a:r>
            <a:r>
              <a:rPr dirty="0" sz="2800" spc="-75">
                <a:latin typeface="Calibri"/>
                <a:cs typeface="Calibri"/>
              </a:rPr>
              <a:t>remain</a:t>
            </a:r>
            <a:r>
              <a:rPr dirty="0" sz="2800">
                <a:latin typeface="Calibri"/>
                <a:cs typeface="Calibri"/>
              </a:rPr>
              <a:t>abstract</a:t>
            </a:r>
            <a:r>
              <a:rPr dirty="0" sz="2800" spc="-75">
                <a:latin typeface="Calibri"/>
                <a:cs typeface="Calibri"/>
              </a:rPr>
              <a:t>without</a:t>
            </a:r>
            <a:r>
              <a:rPr dirty="0" sz="2800">
                <a:latin typeface="Calibri"/>
                <a:cs typeface="Calibri"/>
              </a:rPr>
              <a:t>manipulable</a:t>
            </a:r>
            <a:r>
              <a:rPr dirty="0" sz="2800" spc="-75">
                <a:latin typeface="Calibri"/>
                <a:cs typeface="Calibri"/>
              </a:rPr>
              <a:t>visuals</a:t>
            </a:r>
            <a:r>
              <a:rPr dirty="0" sz="2800">
                <a:latin typeface="Calibri"/>
                <a:cs typeface="Calibri"/>
              </a:rPr>
              <a:t>Passive</a:t>
            </a:r>
            <a:r>
              <a:rPr dirty="0" sz="2800" spc="-60">
                <a:latin typeface="Calibri"/>
                <a:cs typeface="Calibri"/>
              </a:rPr>
              <a:t>chat</a:t>
            </a:r>
            <a:r>
              <a:rPr dirty="0" sz="2800" spc="-25">
                <a:latin typeface="Calibri"/>
                <a:cs typeface="Calibri"/>
              </a:rPr>
              <a:t>alone</a:t>
            </a:r>
            <a:r>
              <a:rPr dirty="0" sz="2800" spc="-10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insufficient</a:t>
            </a:r>
            <a:r>
              <a:rPr dirty="0" sz="2800" spc="-15">
                <a:latin typeface="Calibri"/>
                <a:cs typeface="Calibri"/>
              </a:rPr>
              <a:t>Generated</a:t>
            </a:r>
            <a:r>
              <a:rPr dirty="0" sz="2800" spc="-20">
                <a:latin typeface="Calibri"/>
                <a:cs typeface="Calibri"/>
              </a:rPr>
              <a:t>outputs</a:t>
            </a:r>
            <a:r>
              <a:rPr dirty="0" sz="2800">
                <a:latin typeface="Calibri"/>
                <a:cs typeface="Calibri"/>
              </a:rPr>
              <a:t>need</a:t>
            </a:r>
            <a:r>
              <a:rPr dirty="0" sz="2800" spc="-15">
                <a:latin typeface="Calibri"/>
                <a:cs typeface="Calibri"/>
              </a:rPr>
              <a:t>correctness</a:t>
            </a:r>
            <a:r>
              <a:rPr dirty="0" sz="2800" spc="-10">
                <a:latin typeface="Calibri"/>
                <a:cs typeface="Calibri"/>
              </a:rPr>
              <a:t>checks</a:t>
            </a:r>
            <a:endParaRPr sz="2800">
              <a:latin typeface="Calibri"/>
              <a:cs typeface="Calibri"/>
            </a:endParaRPr>
          </a:p>
          <a:p>
            <a:pPr marL="469900" marR="375285" indent="-457834">
              <a:lnSpc>
                <a:spcPts val="2690"/>
              </a:lnSpc>
              <a:spcBef>
                <a:spcPts val="64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Platform</a:t>
            </a:r>
            <a:r>
              <a:rPr dirty="0" sz="2800" spc="-100">
                <a:latin typeface="Calibri"/>
                <a:cs typeface="Calibri"/>
              </a:rPr>
              <a:t>reliability</a:t>
            </a:r>
            <a:r>
              <a:rPr dirty="0" sz="2800">
                <a:latin typeface="Calibri"/>
                <a:cs typeface="Calibri"/>
              </a:rPr>
              <a:t>failures</a:t>
            </a:r>
            <a:r>
              <a:rPr dirty="0" sz="2800" spc="-85">
                <a:latin typeface="Calibri"/>
                <a:cs typeface="Calibri"/>
              </a:rPr>
              <a:t>interrupt</a:t>
            </a:r>
            <a:r>
              <a:rPr dirty="0" sz="2800">
                <a:latin typeface="Calibri"/>
                <a:cs typeface="Calibri"/>
              </a:rPr>
              <a:t>learning</a:t>
            </a:r>
            <a:r>
              <a:rPr dirty="0" sz="2800" spc="-85">
                <a:latin typeface="Calibri"/>
                <a:cs typeface="Calibri"/>
              </a:rPr>
              <a:t>continuity</a:t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5093" y="1620979"/>
            <a:ext cx="92583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Aim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87344" y="2835676"/>
            <a:ext cx="5883275" cy="2696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6385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86385" algn="l"/>
              </a:tabLst>
            </a:pPr>
            <a:r>
              <a:rPr dirty="0" sz="2800">
                <a:latin typeface="Calibri"/>
                <a:cs typeface="Calibri"/>
              </a:rPr>
              <a:t>Design</a:t>
            </a:r>
            <a:r>
              <a:rPr dirty="0" sz="2800" spc="-105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implement</a:t>
            </a:r>
            <a:r>
              <a:rPr dirty="0" sz="2800" spc="-80">
                <a:latin typeface="Calibri"/>
                <a:cs typeface="Calibri"/>
              </a:rPr>
              <a:t>Lumina</a:t>
            </a:r>
            <a:r>
              <a:rPr dirty="0" sz="2800" spc="-10">
                <a:latin typeface="Calibri"/>
                <a:cs typeface="Calibri"/>
              </a:rPr>
              <a:t>as</a:t>
            </a:r>
            <a:r>
              <a:rPr dirty="0" sz="2800" spc="-55">
                <a:latin typeface="Calibri"/>
                <a:cs typeface="Calibri"/>
              </a:rPr>
              <a:t>an</a:t>
            </a:r>
            <a:r>
              <a:rPr dirty="0" sz="2800">
                <a:latin typeface="Calibri"/>
                <a:cs typeface="Calibri"/>
              </a:rPr>
              <a:t>AI</a:t>
            </a:r>
            <a:r>
              <a:rPr dirty="0" sz="2800" spc="-95">
                <a:latin typeface="Calibri"/>
                <a:cs typeface="Calibri"/>
              </a:rPr>
              <a:t>tutoring</a:t>
            </a:r>
            <a:r>
              <a:rPr dirty="0" sz="2800" spc="-10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Generative</a:t>
            </a:r>
            <a:r>
              <a:rPr dirty="0" sz="2800" spc="-75">
                <a:latin typeface="Calibri"/>
                <a:cs typeface="Calibri"/>
              </a:rPr>
              <a:t>Visual</a:t>
            </a:r>
            <a:r>
              <a:rPr dirty="0" sz="2800">
                <a:latin typeface="Calibri"/>
                <a:cs typeface="Calibri"/>
              </a:rPr>
              <a:t>Intelligence</a:t>
            </a:r>
            <a:r>
              <a:rPr dirty="0" sz="2800" spc="-75">
                <a:latin typeface="Calibri"/>
                <a:cs typeface="Calibri"/>
              </a:rPr>
              <a:t>platform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0">
                <a:latin typeface="Calibri"/>
                <a:cs typeface="Calibri"/>
              </a:rPr>
              <a:t>adaptive</a:t>
            </a:r>
            <a:r>
              <a:rPr dirty="0" sz="2800">
                <a:latin typeface="Calibri"/>
                <a:cs typeface="Calibri"/>
              </a:rPr>
              <a:t>instruction</a:t>
            </a:r>
            <a:r>
              <a:rPr dirty="0" sz="2800" spc="-70">
                <a:latin typeface="Calibri"/>
                <a:cs typeface="Calibri"/>
              </a:rPr>
              <a:t>interactive</a:t>
            </a:r>
            <a:r>
              <a:rPr dirty="0" sz="2800">
                <a:latin typeface="Calibri"/>
                <a:cs typeface="Calibri"/>
              </a:rPr>
              <a:t>visual</a:t>
            </a:r>
            <a:r>
              <a:rPr dirty="0" sz="2800" spc="-40">
                <a:latin typeface="Calibri"/>
                <a:cs typeface="Calibri"/>
              </a:rPr>
              <a:t>reasoning</a:t>
            </a:r>
            <a:r>
              <a:rPr dirty="0" sz="2800" spc="-10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resilient</a:t>
            </a:r>
            <a:r>
              <a:rPr dirty="0" sz="2800" spc="-70">
                <a:latin typeface="Calibri"/>
                <a:cs typeface="Calibri"/>
              </a:rPr>
              <a:t>real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20">
                <a:latin typeface="Calibri"/>
                <a:cs typeface="Calibri"/>
              </a:rPr>
              <a:t>STEM</a:t>
            </a:r>
            <a:r>
              <a:rPr dirty="0" sz="2800">
                <a:latin typeface="Calibri"/>
                <a:cs typeface="Calibri"/>
              </a:rPr>
              <a:t>workflows</a:t>
            </a:r>
            <a:r>
              <a:rPr dirty="0" sz="2800" spc="-80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4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60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60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120">
                <a:latin typeface="Calibri"/>
                <a:cs typeface="Calibri"/>
              </a:rPr>
              <a:t/>
            </a:r>
            <a:r>
              <a:rPr dirty="0" sz="2800" spc="-20">
                <a:latin typeface="Calibri"/>
                <a:cs typeface="Calibri"/>
              </a:rPr>
              <a:t/>
            </a:r>
            <a:r>
              <a:rPr dirty="0" sz="2800" spc="-8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95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8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65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r>
              <a:rPr dirty="0" sz="2800" spc="-6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75">
                <a:latin typeface="Calibri"/>
                <a:cs typeface="Calibri"/>
              </a:rPr>
              <a:t/>
            </a:r>
            <a:r>
              <a:rPr dirty="0" sz="2800" spc="-20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70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  <a:p>
            <a:pPr algn="ctr" marR="122555">
              <a:lnSpc>
                <a:spcPct val="100000"/>
              </a:lnSpc>
              <a:spcBef>
                <a:spcPts val="270"/>
              </a:spcBef>
            </a:pPr>
            <a:r>
              <a:rPr dirty="0" sz="500" spc="-50">
                <a:latin typeface="Arial"/>
                <a:cs typeface="Arial"/>
              </a:rPr>
              <a:t/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9905" y="1941052"/>
            <a:ext cx="239776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5160" y="2962074"/>
            <a:ext cx="6210935" cy="2756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800">
                <a:latin typeface="Calibri"/>
                <a:cs typeface="Calibri"/>
              </a:rPr>
              <a:t>Build</a:t>
            </a:r>
            <a:r>
              <a:rPr dirty="0" sz="2800" spc="-150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staged</a:t>
            </a:r>
            <a:r>
              <a:rPr dirty="0" sz="2800" spc="-110">
                <a:latin typeface="Calibri"/>
                <a:cs typeface="Calibri"/>
              </a:rPr>
              <a:t>orchestration</a:t>
            </a:r>
            <a:r>
              <a:rPr dirty="0" sz="2800" spc="-10">
                <a:latin typeface="Calibri"/>
                <a:cs typeface="Calibri"/>
              </a:rPr>
              <a:t>pipeline</a:t>
            </a:r>
            <a:r>
              <a:rPr dirty="0" sz="2800" spc="-120">
                <a:latin typeface="Calibri"/>
                <a:cs typeface="Calibri"/>
              </a:rPr>
              <a:t>Implement</a:t>
            </a:r>
            <a:r>
              <a:rPr dirty="0" sz="2800">
                <a:latin typeface="Calibri"/>
                <a:cs typeface="Calibri"/>
              </a:rPr>
              <a:t>session</a:t>
            </a:r>
            <a:r>
              <a:rPr dirty="0" sz="2800" spc="-125">
                <a:latin typeface="Calibri"/>
                <a:cs typeface="Calibri"/>
              </a:rPr>
              <a:t>APIs</a:t>
            </a:r>
            <a:r>
              <a:rPr dirty="0" sz="2800" spc="-10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WebSocket</a:t>
            </a:r>
            <a:r>
              <a:rPr dirty="0" sz="2800" spc="-55">
                <a:latin typeface="Calibri"/>
                <a:cs typeface="Calibri"/>
              </a:rPr>
              <a:t>streaming</a:t>
            </a:r>
            <a:r>
              <a:rPr dirty="0" sz="2800">
                <a:latin typeface="Calibri"/>
                <a:cs typeface="Calibri"/>
              </a:rPr>
              <a:t>Integrate</a:t>
            </a:r>
            <a:r>
              <a:rPr dirty="0" sz="2800" spc="-95">
                <a:latin typeface="Calibri"/>
                <a:cs typeface="Calibri"/>
              </a:rPr>
              <a:t>chat</a:t>
            </a:r>
            <a:r>
              <a:rPr dirty="0" sz="2800">
                <a:latin typeface="Calibri"/>
                <a:cs typeface="Calibri"/>
              </a:rPr>
              <a:t>preview</a:t>
            </a:r>
            <a:r>
              <a:rPr dirty="0" sz="2800" spc="-35">
                <a:latin typeface="Calibri"/>
                <a:cs typeface="Calibri"/>
              </a:rPr>
              <a:t>code</a:t>
            </a:r>
            <a:r>
              <a:rPr dirty="0" sz="2800" spc="-1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version</a:t>
            </a:r>
            <a:r>
              <a:rPr dirty="0" sz="2800">
                <a:latin typeface="Calibri"/>
                <a:cs typeface="Calibri"/>
              </a:rPr>
              <a:t>controls</a:t>
            </a:r>
            <a:r>
              <a:rPr dirty="0" sz="2800" spc="-70">
                <a:latin typeface="Calibri"/>
                <a:cs typeface="Calibri"/>
              </a:rPr>
              <a:t>Add</a:t>
            </a:r>
            <a:r>
              <a:rPr dirty="0" sz="2800" spc="-10">
                <a:latin typeface="Calibri"/>
                <a:cs typeface="Calibri"/>
              </a:rPr>
              <a:t>fallback</a:t>
            </a:r>
            <a:r>
              <a:rPr dirty="0" sz="2800">
                <a:latin typeface="Calibri"/>
                <a:cs typeface="Calibri"/>
              </a:rPr>
              <a:t>persistence</a:t>
            </a:r>
            <a:r>
              <a:rPr dirty="0" sz="2800" spc="-55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deterministic</a:t>
            </a:r>
            <a:r>
              <a:rPr dirty="0" sz="2800" spc="-45">
                <a:latin typeface="Calibri"/>
                <a:cs typeface="Calibri"/>
              </a:rPr>
              <a:t>rerun</a:t>
            </a:r>
            <a:r>
              <a:rPr dirty="0" sz="2800">
                <a:latin typeface="Calibri"/>
                <a:cs typeface="Calibri"/>
              </a:rPr>
              <a:t>workflows</a:t>
            </a:r>
            <a:r>
              <a:rPr dirty="0" sz="2800" spc="-40">
                <a:latin typeface="Calibri"/>
                <a:cs typeface="Calibri"/>
              </a:rPr>
              <a:t>Advance</a:t>
            </a:r>
            <a:r>
              <a:rPr dirty="0" sz="2800">
                <a:latin typeface="Calibri"/>
                <a:cs typeface="Calibri"/>
              </a:rPr>
              <a:t>verifiability</a:t>
            </a:r>
            <a:r>
              <a:rPr dirty="0" sz="2800" spc="-25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low</a:t>
            </a:r>
            <a:r>
              <a:rPr dirty="0" sz="2800" spc="-30">
                <a:latin typeface="Calibri"/>
                <a:cs typeface="Calibri"/>
              </a:rPr>
              <a:t>latency</a:t>
            </a:r>
            <a:r>
              <a:rPr dirty="0" sz="2800">
                <a:latin typeface="Calibri"/>
                <a:cs typeface="Calibri"/>
              </a:rPr>
              <a:t>rendering</a:t>
            </a:r>
            <a:r>
              <a:rPr dirty="0" sz="2800" spc="-50">
                <a:latin typeface="Calibri"/>
                <a:cs typeface="Calibri"/>
              </a:rPr>
              <a:t>research</a:t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3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2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55">
                <a:latin typeface="Calibri"/>
                <a:cs typeface="Calibri"/>
              </a:rPr>
              <a:t/>
            </a:r>
            <a:r>
              <a:rPr dirty="0" sz="2800" spc="-25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10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110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60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70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7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45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5777" y="2102727"/>
            <a:ext cx="33223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Scope</a:t>
            </a:r>
            <a:r>
              <a:rPr dirty="0" spc="-75"/>
              <a:t>of</a:t>
            </a:r>
            <a:r>
              <a:rPr dirty="0"/>
              <a:t>Work</a:t>
            </a:r>
            <a:r>
              <a:rPr dirty="0" spc="-60"/>
              <a:t>Express</a:t>
            </a:r>
            <a:r>
              <a:rPr dirty="0" spc="-20"/>
              <a:t>LangGraph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5160" y="3067319"/>
            <a:ext cx="5183505" cy="1731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backend</a:t>
            </a:r>
            <a:r>
              <a:rPr dirty="0" sz="2800" spc="-100">
                <a:latin typeface="Calibri"/>
                <a:cs typeface="Calibri"/>
              </a:rPr>
              <a:t>React</a:t>
            </a:r>
            <a:r>
              <a:rPr dirty="0" sz="2800">
                <a:latin typeface="Calibri"/>
                <a:cs typeface="Calibri"/>
              </a:rPr>
              <a:t>Vite</a:t>
            </a:r>
            <a:r>
              <a:rPr dirty="0" sz="2800" spc="-70">
                <a:latin typeface="Calibri"/>
                <a:cs typeface="Calibri"/>
              </a:rPr>
              <a:t>chat</a:t>
            </a:r>
            <a:r>
              <a:rPr dirty="0" sz="2800" spc="-10">
                <a:latin typeface="Calibri"/>
                <a:cs typeface="Calibri"/>
              </a:rPr>
              <a:t>frontend</a:t>
            </a:r>
            <a:r>
              <a:rPr dirty="0" sz="2800" spc="-105">
                <a:latin typeface="Calibri"/>
                <a:cs typeface="Calibri"/>
              </a:rPr>
              <a:t>Skills</a:t>
            </a:r>
            <a:r>
              <a:rPr dirty="0" sz="2800" spc="-10">
                <a:latin typeface="Calibri"/>
                <a:cs typeface="Calibri"/>
              </a:rPr>
              <a:t>Threejs</a:t>
            </a:r>
            <a:r>
              <a:rPr dirty="0" sz="2800" spc="-20">
                <a:latin typeface="Calibri"/>
                <a:cs typeface="Calibri"/>
              </a:rPr>
              <a:t>P5js</a:t>
            </a:r>
            <a:r>
              <a:rPr dirty="0" sz="2800" spc="-10">
                <a:latin typeface="Calibri"/>
                <a:cs typeface="Calibri"/>
              </a:rPr>
              <a:t>D3js</a:t>
            </a:r>
            <a:r>
              <a:rPr dirty="0" sz="2800" spc="-55">
                <a:latin typeface="Calibri"/>
                <a:cs typeface="Calibri"/>
              </a:rPr>
              <a:t>Animejs</a:t>
            </a:r>
            <a:r>
              <a:rPr dirty="0" sz="2800">
                <a:latin typeface="Calibri"/>
                <a:cs typeface="Calibri"/>
              </a:rPr>
              <a:t>Manim</a:t>
            </a:r>
            <a:r>
              <a:rPr dirty="0" sz="2800" spc="-30">
                <a:latin typeface="Calibri"/>
                <a:cs typeface="Calibri"/>
              </a:rPr>
              <a:t>Session</a:t>
            </a:r>
            <a:r>
              <a:rPr dirty="0" sz="2800">
                <a:latin typeface="Calibri"/>
                <a:cs typeface="Calibri"/>
              </a:rPr>
              <a:t>artifacts</a:t>
            </a:r>
            <a:r>
              <a:rPr dirty="0" sz="2800" spc="-55">
                <a:latin typeface="Calibri"/>
                <a:cs typeface="Calibri"/>
              </a:rPr>
              <a:t>revisions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version</a:t>
            </a:r>
            <a:r>
              <a:rPr dirty="0" sz="2800" spc="-25">
                <a:latin typeface="Calibri"/>
                <a:cs typeface="Calibri"/>
              </a:rPr>
              <a:t>navigation</a:t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2138" rIns="0" bIns="0" rtlCol="0" vert="horz">
            <a:spAutoFit/>
          </a:bodyPr>
          <a:lstStyle/>
          <a:p>
            <a:pPr marL="33413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Limitations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84831" y="3398763"/>
            <a:ext cx="6122670" cy="105029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Formal</a:t>
            </a:r>
            <a:r>
              <a:rPr dirty="0" sz="2800" spc="-65">
                <a:latin typeface="Calibri"/>
                <a:cs typeface="Calibri"/>
              </a:rPr>
              <a:t>proof</a:t>
            </a:r>
            <a:r>
              <a:rPr dirty="0" sz="2800">
                <a:latin typeface="Calibri"/>
                <a:cs typeface="Calibri"/>
              </a:rPr>
              <a:t>level</a:t>
            </a:r>
            <a:r>
              <a:rPr dirty="0" sz="2800" spc="-75">
                <a:latin typeface="Calibri"/>
                <a:cs typeface="Calibri"/>
              </a:rPr>
              <a:t>verification</a:t>
            </a:r>
            <a:r>
              <a:rPr dirty="0" sz="2800">
                <a:latin typeface="Calibri"/>
                <a:cs typeface="Calibri"/>
              </a:rPr>
              <a:t>pending</a:t>
            </a:r>
            <a:r>
              <a:rPr dirty="0" sz="2800" spc="-45">
                <a:latin typeface="Calibri"/>
                <a:cs typeface="Calibri"/>
              </a:rPr>
              <a:t>Global</a:t>
            </a:r>
            <a:r>
              <a:rPr dirty="0" sz="2800" spc="-10">
                <a:latin typeface="Calibri"/>
                <a:cs typeface="Calibri"/>
              </a:rPr>
              <a:t>sub</a:t>
            </a:r>
            <a:r>
              <a:rPr dirty="0" sz="2800" spc="-70">
                <a:latin typeface="Calibri"/>
                <a:cs typeface="Calibri"/>
              </a:rPr>
              <a:t>100ms</a:t>
            </a:r>
            <a:r>
              <a:rPr dirty="0" sz="2800" spc="-10">
                <a:latin typeface="Calibri"/>
                <a:cs typeface="Calibri"/>
              </a:rPr>
              <a:t>latency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 spc="-10">
                <a:latin typeface="Calibri"/>
                <a:cs typeface="Calibri"/>
              </a:rPr>
              <a:t>not</a:t>
            </a:r>
            <a:r>
              <a:rPr dirty="0" sz="2800" spc="-60">
                <a:latin typeface="Calibri"/>
                <a:cs typeface="Calibri"/>
              </a:rPr>
              <a:t>guaranteed</a:t>
            </a:r>
            <a:r>
              <a:rPr dirty="0" sz="2800">
                <a:latin typeface="Calibri"/>
                <a:cs typeface="Calibri"/>
              </a:rPr>
              <a:t>yet</a:t>
            </a:r>
            <a:r>
              <a:rPr dirty="0" sz="2800" spc="-80">
                <a:latin typeface="Calibri"/>
                <a:cs typeface="Calibri"/>
              </a:rPr>
              <a:t/>
            </a:r>
            <a:r>
              <a:rPr dirty="0" sz="2800" spc="-2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3090" rIns="0" bIns="0" rtlCol="0" vert="horz">
            <a:spAutoFit/>
          </a:bodyPr>
          <a:lstStyle/>
          <a:p>
            <a:pPr marL="1829435">
              <a:lnSpc>
                <a:spcPct val="100000"/>
              </a:lnSpc>
              <a:spcBef>
                <a:spcPts val="100"/>
              </a:spcBef>
            </a:pPr>
            <a:r>
              <a:rPr dirty="0"/>
              <a:t>Positioning</a:t>
            </a:r>
            <a:r>
              <a:rPr dirty="0" spc="-105"/>
              <a:t>Lumina</a:t>
            </a:r>
            <a:r>
              <a:rPr dirty="0"/>
              <a:t>extends</a:t>
            </a:r>
            <a:r>
              <a:rPr dirty="0" spc="-110"/>
              <a:t>beyond</a:t>
            </a:r>
            <a:r>
              <a:rPr dirty="0" spc="-10"/>
              <a:t>chat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5160" y="3156717"/>
            <a:ext cx="2738120" cy="156146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tutoring</a:t>
            </a:r>
            <a:r>
              <a:rPr dirty="0" sz="2800" spc="-80">
                <a:latin typeface="Calibri"/>
                <a:cs typeface="Calibri"/>
              </a:rPr>
              <a:t>into</a:t>
            </a:r>
            <a:r>
              <a:rPr dirty="0" sz="2800" spc="-10">
                <a:latin typeface="Calibri"/>
                <a:cs typeface="Calibri"/>
              </a:rPr>
              <a:t>executable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 spc="-10">
                <a:latin typeface="Calibri"/>
                <a:cs typeface="Calibri"/>
              </a:rPr>
              <a:t>visual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 spc="-10">
                <a:latin typeface="Calibri"/>
                <a:cs typeface="Calibri"/>
              </a:rPr>
              <a:t>generation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4355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Generative</a:t>
            </a:r>
            <a:r>
              <a:rPr dirty="0" spc="-114"/>
              <a:t>Visual</a:t>
            </a:r>
            <a:r>
              <a:rPr dirty="0"/>
              <a:t>Intelligence</a:t>
            </a:r>
            <a:r>
              <a:rPr dirty="0" spc="-120"/>
              <a:t>Chat</a:t>
            </a:r>
            <a:r>
              <a:rPr dirty="0" spc="-10"/>
              <a:t>responses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5160" y="3126790"/>
            <a:ext cx="5457825" cy="121983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469900" marR="500380" indent="-457834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produce</a:t>
            </a:r>
            <a:r>
              <a:rPr dirty="0" sz="2800" spc="-65">
                <a:latin typeface="Calibri"/>
                <a:cs typeface="Calibri"/>
              </a:rPr>
              <a:t>executable</a:t>
            </a:r>
            <a:r>
              <a:rPr dirty="0" sz="2800">
                <a:latin typeface="Calibri"/>
                <a:cs typeface="Calibri"/>
              </a:rPr>
              <a:t>scene</a:t>
            </a:r>
            <a:r>
              <a:rPr dirty="0" sz="2800" spc="-65">
                <a:latin typeface="Calibri"/>
                <a:cs typeface="Calibri"/>
              </a:rPr>
              <a:t>artifacts</a:t>
            </a:r>
            <a:r>
              <a:rPr dirty="0" sz="2800" spc="-10">
                <a:latin typeface="Calibri"/>
                <a:cs typeface="Calibri"/>
              </a:rPr>
              <a:t>Learners</a:t>
            </a:r>
            <a:r>
              <a:rPr dirty="0" sz="2800" spc="-55">
                <a:latin typeface="Calibri"/>
                <a:cs typeface="Calibri"/>
              </a:rPr>
              <a:t>iterate</a:t>
            </a:r>
            <a:r>
              <a:rPr dirty="0" sz="2800" spc="-10">
                <a:latin typeface="Calibri"/>
                <a:cs typeface="Calibri"/>
              </a:rPr>
              <a:t>parameters</a:t>
            </a:r>
            <a:r>
              <a:rPr dirty="0" sz="2800" spc="-20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inspect</a:t>
            </a:r>
            <a:r>
              <a:rPr dirty="0" sz="2800" spc="-20">
                <a:latin typeface="Calibri"/>
                <a:cs typeface="Calibri"/>
              </a:rPr>
              <a:t>revisions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50">
                <a:latin typeface="Calibri"/>
                <a:cs typeface="Calibri"/>
              </a:rPr>
              <a:t>connect</a:t>
            </a:r>
            <a:r>
              <a:rPr dirty="0" sz="2800">
                <a:latin typeface="Calibri"/>
                <a:cs typeface="Calibri"/>
              </a:rPr>
              <a:t>formulas</a:t>
            </a:r>
            <a:r>
              <a:rPr dirty="0" sz="2800" spc="-60">
                <a:latin typeface="Calibri"/>
                <a:cs typeface="Calibri"/>
              </a:rPr>
              <a:t>with</a:t>
            </a:r>
            <a:r>
              <a:rPr dirty="0" sz="2800">
                <a:latin typeface="Calibri"/>
                <a:cs typeface="Calibri"/>
              </a:rPr>
              <a:t>dynamic</a:t>
            </a:r>
            <a:r>
              <a:rPr dirty="0" sz="2800" spc="-35">
                <a:latin typeface="Calibri"/>
                <a:cs typeface="Calibri"/>
              </a:rPr>
              <a:t>spatial</a:t>
            </a:r>
            <a:r>
              <a:rPr dirty="0" sz="2800">
                <a:latin typeface="Calibri"/>
                <a:cs typeface="Calibri"/>
              </a:rPr>
              <a:t>behavior</a:t>
            </a:r>
            <a:r>
              <a:rPr dirty="0" sz="2800" spc="-30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471" rIns="0" bIns="0" rtlCol="0" vert="horz">
            <a:spAutoFit/>
          </a:bodyPr>
          <a:lstStyle/>
          <a:p>
            <a:pPr marL="16859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Real</a:t>
            </a:r>
            <a:r>
              <a:rPr dirty="0" sz="4000" spc="-180"/>
              <a:t>Time</a:t>
            </a:r>
            <a:r>
              <a:rPr dirty="0" sz="4000" spc="-10"/>
              <a:t>Responsiveness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2844866" y="3242612"/>
            <a:ext cx="505269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WebSocket</a:t>
            </a:r>
            <a:r>
              <a:rPr dirty="0" sz="2800" spc="-80">
                <a:latin typeface="Calibri"/>
                <a:cs typeface="Calibri"/>
              </a:rPr>
              <a:t>events</a:t>
            </a:r>
            <a:r>
              <a:rPr dirty="0" sz="2800">
                <a:latin typeface="Calibri"/>
                <a:cs typeface="Calibri"/>
              </a:rPr>
              <a:t>stream</a:t>
            </a:r>
            <a:r>
              <a:rPr dirty="0" sz="2800" spc="-90">
                <a:latin typeface="Calibri"/>
                <a:cs typeface="Calibri"/>
              </a:rPr>
              <a:t>turn</a:t>
            </a:r>
            <a:r>
              <a:rPr dirty="0" sz="2800" spc="-10">
                <a:latin typeface="Calibri"/>
                <a:cs typeface="Calibri"/>
              </a:rPr>
              <a:t>started</a:t>
            </a:r>
            <a:r>
              <a:rPr dirty="0" sz="2800" spc="-60">
                <a:latin typeface="Calibri"/>
                <a:cs typeface="Calibri"/>
              </a:rPr>
              <a:t>orchestration</a:t>
            </a:r>
            <a:r>
              <a:rPr dirty="0" sz="2800">
                <a:latin typeface="Calibri"/>
                <a:cs typeface="Calibri"/>
              </a:rPr>
              <a:t>steps</a:t>
            </a:r>
            <a:r>
              <a:rPr dirty="0" sz="2800" spc="-75">
                <a:latin typeface="Calibri"/>
                <a:cs typeface="Calibri"/>
              </a:rPr>
              <a:t>scene</a:t>
            </a:r>
            <a:r>
              <a:rPr dirty="0" sz="2800" spc="-10">
                <a:latin typeface="Calibri"/>
                <a:cs typeface="Calibri"/>
              </a:rPr>
              <a:t>updates</a:t>
            </a:r>
            <a:endParaRPr sz="2800">
              <a:latin typeface="Calibri"/>
              <a:cs typeface="Calibri"/>
            </a:endParaRPr>
          </a:p>
          <a:p>
            <a:pPr marL="487680" indent="-457200">
              <a:lnSpc>
                <a:spcPct val="100000"/>
              </a:lnSpc>
              <a:buFont typeface="Arial"/>
              <a:buChar char="•"/>
              <a:tabLst>
                <a:tab pos="487680" algn="l"/>
              </a:tabLst>
            </a:pP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10">
                <a:latin typeface="Calibri"/>
                <a:cs typeface="Calibri"/>
              </a:rPr>
              <a:t>turn</a:t>
            </a:r>
            <a:r>
              <a:rPr dirty="0" sz="2800">
                <a:latin typeface="Calibri"/>
                <a:cs typeface="Calibri"/>
              </a:rPr>
              <a:t>complete</a:t>
            </a:r>
            <a:r>
              <a:rPr dirty="0" sz="2800" spc="-70">
                <a:latin typeface="Calibri"/>
                <a:cs typeface="Calibri"/>
              </a:rPr>
              <a:t>for</a:t>
            </a:r>
            <a:r>
              <a:rPr dirty="0" sz="2800">
                <a:latin typeface="Calibri"/>
                <a:cs typeface="Calibri"/>
              </a:rPr>
              <a:t>transparent</a:t>
            </a:r>
            <a:r>
              <a:rPr dirty="0" sz="2800" spc="-80">
                <a:latin typeface="Calibri"/>
                <a:cs typeface="Calibri"/>
              </a:rPr>
              <a:t>progress</a:t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3074" rIns="0" bIns="0" rtlCol="0" vert="horz">
            <a:spAutoFit/>
          </a:bodyPr>
          <a:lstStyle/>
          <a:p>
            <a:pPr marL="3616325" marR="5080" indent="-1181100">
              <a:lnSpc>
                <a:spcPct val="100000"/>
              </a:lnSpc>
              <a:spcBef>
                <a:spcPts val="95"/>
              </a:spcBef>
            </a:pPr>
            <a:r>
              <a:rPr dirty="0" sz="4000" spc="-55"/>
              <a:t>Technology</a:t>
            </a:r>
            <a:r>
              <a:rPr dirty="0" sz="4000" spc="-10"/>
              <a:t>Stack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2651194" y="3533726"/>
            <a:ext cx="5689600" cy="1219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800">
                <a:latin typeface="Calibri"/>
                <a:cs typeface="Calibri"/>
              </a:rPr>
              <a:t>Node</a:t>
            </a:r>
            <a:r>
              <a:rPr dirty="0" sz="2800" spc="-110">
                <a:latin typeface="Calibri"/>
                <a:cs typeface="Calibri"/>
              </a:rPr>
              <a:t>Express</a:t>
            </a:r>
            <a:r>
              <a:rPr dirty="0" sz="2800" spc="-10">
                <a:latin typeface="Calibri"/>
                <a:cs typeface="Calibri"/>
              </a:rPr>
              <a:t>LangGraph</a:t>
            </a:r>
            <a:r>
              <a:rPr dirty="0" sz="2800" spc="-114">
                <a:latin typeface="Calibri"/>
                <a:cs typeface="Calibri"/>
              </a:rPr>
              <a:t>React</a:t>
            </a:r>
            <a:r>
              <a:rPr dirty="0" sz="2800">
                <a:latin typeface="Calibri"/>
                <a:cs typeface="Calibri"/>
              </a:rPr>
              <a:t>Vite</a:t>
            </a:r>
            <a:r>
              <a:rPr dirty="0" sz="2800" spc="-110">
                <a:latin typeface="Calibri"/>
                <a:cs typeface="Calibri"/>
              </a:rPr>
              <a:t>Zustand</a:t>
            </a:r>
            <a:r>
              <a:rPr dirty="0" sz="2800" spc="-10">
                <a:latin typeface="Calibri"/>
                <a:cs typeface="Calibri"/>
              </a:rPr>
              <a:t>ws</a:t>
            </a:r>
            <a:endParaRPr sz="2800">
              <a:latin typeface="Calibri"/>
              <a:cs typeface="Calibri"/>
            </a:endParaRPr>
          </a:p>
          <a:p>
            <a:pPr marL="355600" marR="323215" indent="-343535">
              <a:lnSpc>
                <a:spcPts val="2690"/>
              </a:lnSpc>
              <a:spcBef>
                <a:spcPts val="6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Daytona</a:t>
            </a:r>
            <a:r>
              <a:rPr dirty="0" sz="2800" spc="-80">
                <a:latin typeface="Calibri"/>
                <a:cs typeface="Calibri"/>
              </a:rPr>
              <a:t>sandbox</a:t>
            </a:r>
            <a:r>
              <a:rPr dirty="0" sz="2800">
                <a:latin typeface="Calibri"/>
                <a:cs typeface="Calibri"/>
              </a:rPr>
              <a:t>pool</a:t>
            </a:r>
            <a:r>
              <a:rPr dirty="0" sz="2800" spc="-80">
                <a:latin typeface="Calibri"/>
                <a:cs typeface="Calibri"/>
              </a:rPr>
              <a:t>shared</a:t>
            </a:r>
            <a:r>
              <a:rPr dirty="0" sz="2800">
                <a:latin typeface="Calibri"/>
                <a:cs typeface="Calibri"/>
              </a:rPr>
              <a:t>TypeScript</a:t>
            </a:r>
            <a:r>
              <a:rPr dirty="0" sz="2800" spc="-85">
                <a:latin typeface="Calibri"/>
                <a:cs typeface="Calibri"/>
              </a:rPr>
              <a:t>contracts</a:t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1237" rIns="0" bIns="0" rtlCol="0" vert="horz">
            <a:spAutoFit/>
          </a:bodyPr>
          <a:lstStyle/>
          <a:p>
            <a:pPr marL="2021205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Methodology</a:t>
            </a:r>
            <a:r>
              <a:rPr dirty="0" spc="-165"/>
              <a:t>Iterative</a:t>
            </a:r>
            <a:r>
              <a:rPr dirty="0" spc="-10"/>
              <a:t>engineering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5160" y="3197809"/>
            <a:ext cx="6436360" cy="241554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cycles</a:t>
            </a:r>
            <a:r>
              <a:rPr dirty="0" sz="2800" spc="-40">
                <a:latin typeface="Calibri"/>
                <a:cs typeface="Calibri"/>
              </a:rPr>
              <a:t>Architecture</a:t>
            </a:r>
            <a:r>
              <a:rPr dirty="0" sz="2800" spc="-10">
                <a:latin typeface="Calibri"/>
                <a:cs typeface="Calibri"/>
              </a:rPr>
              <a:t>specification</a:t>
            </a:r>
            <a:endParaRPr sz="2800">
              <a:latin typeface="Calibri"/>
              <a:cs typeface="Calibri"/>
            </a:endParaRPr>
          </a:p>
          <a:p>
            <a:pPr marL="469900" marR="1913889" indent="-457834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Implementation</a:t>
            </a:r>
            <a:r>
              <a:rPr dirty="0" sz="2800" spc="-50">
                <a:latin typeface="Calibri"/>
                <a:cs typeface="Calibri"/>
              </a:rPr>
              <a:t>Validation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Refinement</a:t>
            </a:r>
            <a:r>
              <a:rPr dirty="0" sz="2800" spc="-25">
                <a:latin typeface="Calibri"/>
                <a:cs typeface="Calibri"/>
              </a:rPr>
              <a:t>with</a:t>
            </a:r>
            <a:r>
              <a:rPr dirty="0" sz="2800" spc="-10">
                <a:latin typeface="Calibri"/>
                <a:cs typeface="Calibri"/>
              </a:rPr>
              <a:t>repository</a:t>
            </a:r>
            <a:endParaRPr sz="2800">
              <a:latin typeface="Calibri"/>
              <a:cs typeface="Calibri"/>
            </a:endParaRPr>
          </a:p>
          <a:p>
            <a:pPr marL="469900" marR="5080" indent="-457834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 spc="-25">
                <a:latin typeface="Calibri"/>
                <a:cs typeface="Calibri"/>
              </a:rPr>
              <a:t>first</a:t>
            </a:r>
            <a:r>
              <a:rPr dirty="0" sz="2800" spc="-90">
                <a:latin typeface="Calibri"/>
                <a:cs typeface="Calibri"/>
              </a:rPr>
              <a:t>evidence</a:t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85">
                <a:latin typeface="Calibri"/>
                <a:cs typeface="Calibri"/>
              </a:rPr>
              <a:t/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80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r>
              <a:rPr dirty="0" sz="2800" spc="-25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284" y="1221708"/>
            <a:ext cx="458279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System</a:t>
            </a:r>
            <a:r>
              <a:rPr dirty="0" spc="-215"/>
              <a:t>Architecture</a:t>
            </a:r>
            <a:r>
              <a:rPr dirty="0" spc="-10"/>
              <a:t>User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83270" y="1924362"/>
            <a:ext cx="14986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latin typeface="Arial"/>
                <a:cs typeface="Arial"/>
              </a:rPr>
              <a:t>request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800" spc="-50">
                <a:latin typeface="Arial"/>
                <a:cs typeface="Arial"/>
              </a:rPr>
              <a:t>enters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83270" y="3119161"/>
            <a:ext cx="1498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latin typeface="Arial"/>
                <a:cs typeface="Arial"/>
              </a:rPr>
              <a:t>API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Orchestrator</a:t>
            </a:r>
            <a:r>
              <a:rPr dirty="0"/>
              <a:t>executes</a:t>
            </a:r>
            <a:r>
              <a:rPr dirty="0" spc="15"/>
              <a:t>parse</a:t>
            </a:r>
            <a:r>
              <a:rPr dirty="0" spc="-10"/>
              <a:t>select</a:t>
            </a:r>
            <a:r>
              <a:rPr dirty="0" spc="-70"/>
              <a:t>build</a:t>
            </a:r>
            <a:r>
              <a:rPr dirty="0"/>
              <a:t>generate</a:t>
            </a:r>
            <a:r>
              <a:rPr dirty="0" spc="-90"/>
              <a:t>validate</a:t>
            </a:r>
            <a:r>
              <a:rPr dirty="0"/>
              <a:t>execute</a:t>
            </a:r>
            <a:r>
              <a:rPr dirty="0" spc="-30"/>
              <a:t>sync</a:t>
            </a:r>
            <a:r>
              <a:rPr dirty="0" spc="-10"/>
              <a:t>Session</a:t>
            </a:r>
          </a:p>
          <a:p>
            <a:pPr marL="12700">
              <a:lnSpc>
                <a:spcPts val="2690"/>
              </a:lnSpc>
            </a:pPr>
            <a:r>
              <a:rPr dirty="0"/>
              <a:t>state</a:t>
            </a:r>
            <a:r>
              <a:rPr dirty="0" spc="-10"/>
              <a:t>persists</a:t>
            </a:r>
            <a:r>
              <a:rPr dirty="0" spc="-20"/>
              <a:t>artifacts</a:t>
            </a:r>
          </a:p>
          <a:p>
            <a:pPr marL="12700" marR="549275">
              <a:lnSpc>
                <a:spcPts val="2690"/>
              </a:lnSpc>
              <a:spcBef>
                <a:spcPts val="645"/>
              </a:spcBef>
            </a:pPr>
            <a:r>
              <a:rPr dirty="0"/>
              <a:t>and</a:t>
            </a:r>
            <a:r>
              <a:rPr dirty="0" spc="-60"/>
              <a:t>revisions</a:t>
            </a:r>
            <a:r>
              <a:rPr dirty="0" spc="-10"/>
              <a:t>Frontend</a:t>
            </a:r>
            <a:r>
              <a:rPr dirty="0" spc="-60"/>
              <a:t>reconciles</a:t>
            </a:r>
            <a:r>
              <a:rPr dirty="0"/>
              <a:t>events</a:t>
            </a:r>
            <a:r>
              <a:rPr dirty="0" spc="-70"/>
              <a:t>in</a:t>
            </a:r>
            <a:r>
              <a:rPr dirty="0" spc="-25"/>
              <a:t>real</a:t>
            </a:r>
            <a:r>
              <a:rPr dirty="0" spc="-20"/>
              <a:t>time</a:t>
            </a:r>
            <a:r>
              <a:rPr dirty="0" spc="-10"/>
              <a:t/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3132" y="3549396"/>
            <a:ext cx="3991355" cy="31851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7238" y="1092259"/>
            <a:ext cx="26314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Pipeline</a:t>
            </a:r>
            <a:r>
              <a:rPr dirty="0" spc="10"/>
              <a:t>Flow</a:t>
            </a:r>
            <a:r>
              <a:rPr dirty="0" spc="-10"/>
              <a:t>Diagram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560" y="2680716"/>
            <a:ext cx="6573012" cy="37048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1263" y="2158985"/>
            <a:ext cx="460946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Testing</a:t>
            </a:r>
            <a:r>
              <a:rPr dirty="0" spc="-100"/>
              <a:t>Evaluation</a:t>
            </a:r>
            <a:r>
              <a:rPr dirty="0"/>
              <a:t>Build</a:t>
            </a:r>
            <a:r>
              <a:rPr dirty="0" spc="-145"/>
              <a:t>checks</a:t>
            </a:r>
            <a:r>
              <a:rPr dirty="0" spc="-10"/>
              <a:t>API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05160" y="3413223"/>
            <a:ext cx="4555490" cy="1219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 spc="-35">
                <a:latin typeface="Calibri"/>
                <a:cs typeface="Calibri"/>
              </a:rPr>
              <a:t>health</a:t>
            </a:r>
            <a:r>
              <a:rPr dirty="0" sz="2800" spc="-105">
                <a:latin typeface="Calibri"/>
                <a:cs typeface="Calibri"/>
              </a:rPr>
              <a:t>WebSocket</a:t>
            </a:r>
            <a:r>
              <a:rPr dirty="0" sz="2800">
                <a:latin typeface="Calibri"/>
                <a:cs typeface="Calibri"/>
              </a:rPr>
              <a:t>flow</a:t>
            </a:r>
            <a:r>
              <a:rPr dirty="0" sz="2800" spc="-85">
                <a:latin typeface="Calibri"/>
                <a:cs typeface="Calibri"/>
              </a:rPr>
              <a:t>sandbox</a:t>
            </a:r>
            <a:r>
              <a:rPr dirty="0" sz="2800" spc="-10">
                <a:latin typeface="Calibri"/>
                <a:cs typeface="Calibri"/>
              </a:rPr>
              <a:t>execution</a:t>
            </a:r>
            <a:endParaRPr sz="2800">
              <a:latin typeface="Calibri"/>
              <a:cs typeface="Calibri"/>
            </a:endParaRPr>
          </a:p>
          <a:p>
            <a:pPr marL="469900" marR="5080" indent="-457834">
              <a:lnSpc>
                <a:spcPts val="2690"/>
              </a:lnSpc>
              <a:spcBef>
                <a:spcPts val="64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version</a:t>
            </a:r>
            <a:r>
              <a:rPr dirty="0" sz="2800" spc="-10">
                <a:latin typeface="Calibri"/>
                <a:cs typeface="Calibri"/>
              </a:rPr>
              <a:t>navigation</a:t>
            </a:r>
            <a:r>
              <a:rPr dirty="0" sz="2800" spc="-75">
                <a:latin typeface="Calibri"/>
                <a:cs typeface="Calibri"/>
              </a:rPr>
              <a:t>validated</a:t>
            </a:r>
            <a:r>
              <a:rPr dirty="0" sz="2800">
                <a:latin typeface="Calibri"/>
                <a:cs typeface="Calibri"/>
              </a:rPr>
              <a:t/>
            </a:r>
            <a:r>
              <a:rPr dirty="0" sz="2800" spc="-50">
                <a:latin typeface="Calibri"/>
                <a:cs typeface="Calibri"/>
              </a:rPr>
              <a:t/>
            </a:r>
            <a:r>
              <a:rPr dirty="0" sz="2800" spc="-10">
                <a:latin typeface="Calibri"/>
                <a:cs typeface="Calibri"/>
              </a:rPr>
              <a:t/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4169" rIns="0" bIns="0" rtlCol="0" vert="horz">
            <a:spAutoFit/>
          </a:bodyPr>
          <a:lstStyle/>
          <a:p>
            <a:pPr marL="170688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dirty="0" spc="-80"/>
              <a:t>Future</a:t>
            </a:r>
            <a:r>
              <a:rPr dirty="0"/>
              <a:t>Work</a:t>
            </a:r>
            <a:r>
              <a:rPr dirty="0" spc="-65"/>
              <a:t>Lumina</a:t>
            </a:r>
            <a:r>
              <a:rPr dirty="0"/>
              <a:t>demonstrates</a:t>
            </a:r>
            <a:r>
              <a:rPr dirty="0" spc="-90"/>
              <a:t>an</a:t>
            </a:r>
            <a:r>
              <a:rPr dirty="0" spc="-20"/>
              <a:t>executable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15347" y="3186262"/>
            <a:ext cx="5369560" cy="1817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marR="335280" indent="-4572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 spc="-10">
                <a:latin typeface="Calibri"/>
                <a:cs typeface="Calibri"/>
              </a:rPr>
              <a:t>bridge</a:t>
            </a:r>
            <a:r>
              <a:rPr dirty="0" sz="2800" spc="-100">
                <a:latin typeface="Calibri"/>
                <a:cs typeface="Calibri"/>
              </a:rPr>
              <a:t>from</a:t>
            </a:r>
            <a:r>
              <a:rPr dirty="0" sz="2800">
                <a:latin typeface="Calibri"/>
                <a:cs typeface="Calibri"/>
              </a:rPr>
              <a:t>tutoring</a:t>
            </a:r>
            <a:r>
              <a:rPr dirty="0" sz="2800" spc="-85">
                <a:latin typeface="Calibri"/>
                <a:cs typeface="Calibri"/>
              </a:rPr>
              <a:t>dialogue</a:t>
            </a:r>
            <a:r>
              <a:rPr dirty="0" sz="2800" spc="-1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revisionable</a:t>
            </a:r>
            <a:r>
              <a:rPr dirty="0" sz="2800" spc="-50">
                <a:latin typeface="Calibri"/>
                <a:cs typeface="Calibri"/>
              </a:rPr>
              <a:t>visuals</a:t>
            </a:r>
            <a:r>
              <a:rPr dirty="0" sz="2800" spc="-10">
                <a:latin typeface="Calibri"/>
                <a:cs typeface="Calibri"/>
              </a:rPr>
              <a:t>Next</a:t>
            </a:r>
            <a:endParaRPr sz="2800">
              <a:latin typeface="Calibri"/>
              <a:cs typeface="Calibri"/>
            </a:endParaRPr>
          </a:p>
          <a:p>
            <a:pPr marL="469265" marR="5080" indent="-4572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steps</a:t>
            </a:r>
            <a:r>
              <a:rPr dirty="0" sz="2800" spc="-80">
                <a:latin typeface="Calibri"/>
                <a:cs typeface="Calibri"/>
              </a:rPr>
              <a:t>include</a:t>
            </a:r>
            <a:r>
              <a:rPr dirty="0" sz="2800" spc="-10">
                <a:latin typeface="Calibri"/>
                <a:cs typeface="Calibri"/>
              </a:rPr>
              <a:t>mastery</a:t>
            </a:r>
            <a:r>
              <a:rPr dirty="0" sz="2800" spc="-114">
                <a:latin typeface="Calibri"/>
                <a:cs typeface="Calibri"/>
              </a:rPr>
              <a:t>modeling</a:t>
            </a:r>
            <a:r>
              <a:rPr dirty="0" sz="2800">
                <a:latin typeface="Calibri"/>
                <a:cs typeface="Calibri"/>
              </a:rPr>
              <a:t>scaffold</a:t>
            </a:r>
            <a:r>
              <a:rPr dirty="0" sz="2800" spc="-120">
                <a:latin typeface="Calibri"/>
                <a:cs typeface="Calibri"/>
              </a:rPr>
              <a:t>fading</a:t>
            </a:r>
            <a:r>
              <a:rPr dirty="0" sz="2800" spc="-10">
                <a:latin typeface="Calibri"/>
                <a:cs typeface="Calibri"/>
              </a:rPr>
              <a:t>adversarial</a:t>
            </a:r>
            <a:r>
              <a:rPr dirty="0" sz="2800" spc="-45">
                <a:latin typeface="Calibri"/>
                <a:cs typeface="Calibri"/>
              </a:rPr>
              <a:t>critique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classroom</a:t>
            </a:r>
            <a:r>
              <a:rPr dirty="0" sz="2800" spc="-25">
                <a:latin typeface="Calibri"/>
                <a:cs typeface="Calibri"/>
              </a:rPr>
              <a:t>studies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41602" y="2966842"/>
            <a:ext cx="5914390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6600" b="1">
                <a:solidFill>
                  <a:srgbClr val="FFFFFF"/>
                </a:solidFill>
                <a:latin typeface="Georgia"/>
                <a:cs typeface="Georgia"/>
              </a:rPr>
              <a:t>Thank</a:t>
            </a:r>
            <a:r>
              <a:rPr dirty="0" sz="6600" spc="-140" b="1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r>
              <a:rPr dirty="0" sz="6600" spc="-25" b="1">
                <a:solidFill>
                  <a:srgbClr val="FFFFFF"/>
                </a:solidFill>
                <a:latin typeface="Georgia"/>
                <a:cs typeface="Georgia"/>
              </a:rPr>
              <a:t>Questions</a:t>
            </a:r>
            <a:endParaRPr sz="6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Theis_Presentation</dc:title>
  <dcterms:created xsi:type="dcterms:W3CDTF">2026-04-10T05:52:40Z</dcterms:created>
  <dcterms:modified xsi:type="dcterms:W3CDTF">2026-04-10T05:52:40Z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LastSaved">
    <vt:filetime>2026-04-10T00:00:00Z</vt:filetime>
  </property>
  <property fmtid="{D5CDD505-2E9C-101B-9397-08002B2CF9AE}" pid="4" name="Producer">
    <vt:lpwstr>3-Heights(TM) PDF Security Shell 4.8.25.2 (http://www.pdf-tools.com)</vt:lpwstr>
  </property>
</Properties>
</file>